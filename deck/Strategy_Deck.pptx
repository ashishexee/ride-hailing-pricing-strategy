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Zone Governance is the clear winner across all scoring scenarios. It trades a manageable 6.06% CM reduction for structural revenue diversification and competitive defensibility. The three key numbers: 62.8% CM concentration in surge, satisfaction cliff from 4.14 to 2.36, and Zone Governance winning 6/6 weight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problem: surge pricing creates a satisfaction cliff. Riders at 2.5x surge have satisfaction scores of 2.36/5, driving churn up to 38%. Meanwhile, the business is over-dependent on surge: 62.8% of CM from just 31.2% of trips. This is a structural vulnerability.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 riders have the highest LTV/CAC at 1.47x and are the most churn-sensitive. The heatmap shows negative margins are concentrated in residential short-distance trips. Zone caps + min fare floor target exactly these problem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competitive landscape makes zone caps strategically superior: they're invisible until a ride request, making them hard for competitors to match. A uniform 2.0x cap would be immediately observable and easily matched by Ola or Rapido.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Zone Governance caps at 1.75/2.0/2.5x by zone type. CM impact is -6.06% but the structural benefits outweigh: revenue diversification, competitive defensibility, and regulatory positioning. The table shows Zone Governance wins on churn improvement and weighted score. Calibrated is easily matched; Loyalty only protects 10-15% of trips.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combined zone+loyalty option provides incremental churn improvement (+0.74pp vs +0.64pp zone-only) but at higher CM cost (-6.92% vs -6.06%). The 37.1% Unknown tier gap is the key limitation. Recommended approach: deploy zone caps first, measure impact, then add loyalty overlay in Phase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5-phase rollout over 18 months. Critical risk is driver earnings reduction in capped zones - mitigated by earnings guarantee fund. Zone caps invisible to competitors until ride request, making defensive moat sustainable. Key success metrics: LTV/CAC &gt;= 1.47x for frequent riders, NRR &gt;= 95%, CM surge dependency &lt; 55%.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metrics for investors: LTV/CAC upside depends on churn model validity (uncertain), but structural thesis is strong. NRR already at 94% - zone governance protects high-value riders. CM sustainability is the strongest argument: reducing surge dependency from 63% to &lt;55% makes the business more defensible. Key caveat: churn causation not validated in data - recommendation rests on structural benefits, not churn improvement projections.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Surge Pricing Drives Revenue but Erodes Retention — Zone Governance Restores 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583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• Current surge pricing generates 62.8% of CM from 31.2% of trips, but satisfaction drops from 4.14→2.36 across the surge range, driving ~14% annual churn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• Zone-governed caps (1.75/2.0/2.5x) reduce CM by 6.06% but structurally diversify revenue; LTV/CAC could reach 1.47-1.84x (churn improvement uncertain: 0.15-0.64pp)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• Recommendation: Option 2 (Zone Governance) as primary, with Option 3 (Loyalty Protection) as Phase 3 enhancement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• Weighted scores: Calibrated=3.02 | Zone Governance=4.46 | Loyalty Soft=3.60</a:t>
            </a:r>
          </a:p>
        </p:txBody>
      </p:sp>
      <p:pic>
        <p:nvPicPr>
          <p:cNvPr id="4" name="Picture 3" descr="options_scoring_roun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0"/>
            <a:ext cx="4754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The Problem: Surge Pricing Satisfaction Cliff and Revenue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583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Satisfaction drops sharply with surge: 4.14 (1.0x) → 3.49 (1.5x) → 2.36 (2.5x)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Bracketed churn model: 14% → 20% → 38% annual churn across this range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62.8% of CM from 31.2% of trips — extreme revenue concentration risk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39.6% of trips have NEGATIVE margin (cross-subsidy from surge to non-surge)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Completion rate non-monotonic at 1.75x (61.8% of subgroups show data artifact)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Implication: Current pricing is profitable but fragile — retention erosion threatens long-term CM sustainability</a:t>
            </a:r>
          </a:p>
        </p:txBody>
      </p:sp>
      <p:pic>
        <p:nvPicPr>
          <p:cNvPr id="4" name="Picture 3" descr="satisfaction_vs_su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0"/>
            <a:ext cx="4754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Segment Impact: Who Is Affected and Where Margins Collapse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Frequent riders: LTV/CAC 1.47x (current), churn-sensitive, highest value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Occasional riders: LTV/CAC 0.87x, low retention leverage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Rare riders: LTV/CAC 0.44x, negative margin, churn less impactful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Negative margins concentrated in residential, short-distance, low-surge trips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Min fare Rs.125/zone eliminates negative CM across all segments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Zone caps protect the segments most vulnerable to satisfaction erosion</a:t>
            </a:r>
          </a:p>
        </p:txBody>
      </p:sp>
      <p:pic>
        <p:nvPicPr>
          <p:cNvPr id="4" name="Picture 3" descr="ltv_cac_by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97280"/>
            <a:ext cx="3200400" cy="2560320"/>
          </a:xfrm>
          <a:prstGeom prst="rect">
            <a:avLst/>
          </a:prstGeom>
        </p:spPr>
      </p:pic>
      <p:pic>
        <p:nvPicPr>
          <p:cNvPr id="5" name="Picture 4" descr="negative_margi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097280"/>
            <a:ext cx="30175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Porter's Five Forces: India Ride-Hailing — High Rivalry, Zero Switching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583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Buyer Power: HIGH — Multi-apping norm (75%+ have 2+ apps); zero switching cost; real-time price comparison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Supplier Power (Drivers): MODERATE — Platform-dependent for demand; earnings sensitivity to caps creates retention risk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Rivalry: HIGH — Ola, Uber, Rapido; margin pressure; winner-take-most dynamics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Substitutes: VERY HIGH — Metro (Delhi/Mumbai), autos, buses; short-distance substitutable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New Entrants: MODERATE — Network effects barrier; zero-surge positioning can attract switchers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KEY: Zone caps are DEFENSIBLE (invisible until ride request); uniform caps are NOT (immediately observable)</a:t>
            </a:r>
          </a:p>
        </p:txBody>
      </p:sp>
      <p:pic>
        <p:nvPicPr>
          <p:cNvPr id="4" name="Picture 3" descr="porters_five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0"/>
            <a:ext cx="4754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Recommendation: Zone-Governed Surge Caps — What, Where,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WHAT: Differentiated surge caps by zone type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   Residential: 1.75x | Commercial: 2.0x | Transit Hub: 2.5x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WHERE: Mumbai, Bangalore, Delhi — all zone types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WHY (trip-level simulation, 97% baseline):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   — CM impact: -6.06%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   — Trips protected: 10.7%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   — Satisfaction: +0.061 pts avg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   — Min fare Rs.125/zone eliminates negative CM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   — Wins 6/6 weight scenarios (score 4.46)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Phase 3: Add loyalty cap (1.75x for Gold/Silver)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0" y="1097280"/>
          <a:ext cx="6217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</a:tblGrid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Calibrated (2.0x)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Zone Gov (1.75/2.0/2.5x)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Loyalty Soft (1.75x GS)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Revenue Impact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-2.20%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-1.79%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-0.58%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CM Impact</a:t>
                      </a: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-5.89%</a:t>
                      </a: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-6.06%</a:t>
                      </a: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-2.55%</a:t>
                      </a: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Churn Improvement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+0.53pp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+0.64pp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+0.25pp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Weighted Score</a:t>
                      </a: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3.02</a:t>
                      </a: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4.46</a:t>
                      </a:r>
                    </a:p>
                  </a:txBody>
                  <a:tcPr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3.60</a:t>
                      </a:r>
                    </a:p>
                  </a:txBody>
                  <a:tcPr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scenario_cm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291840"/>
            <a:ext cx="62179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Phase 3 Enhancement: Loyalty Protection on Top of Zone Caps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583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Combined Zone + Loyalty (1.75x for Gold/Silver): CM -6.92%, churn +0.74pp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1.5x loyalty cap too aggressive; 2.0x provides minimal additional benefit over zone caps alone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37.1% of riders are Unknown tier — unprotected by loyalty caps alone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   — "Path to Silver" program: 5 rides → Silver status, gradually expanding coverage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Recommended sequencing: Zone caps first (Phase 2), loyalty overlay (Phase 3)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   — Allows measurement of zone-only impact before adding complexity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   — Driver earnings guarantee already in place before loyalty cap reduces driver revenue further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• Sensitivity: Combined option CM impact ranges from -6.06% to -6.92% depending on loyalty tier scope</a:t>
            </a:r>
          </a:p>
        </p:txBody>
      </p:sp>
      <p:pic>
        <p:nvPicPr>
          <p:cNvPr id="4" name="Picture 3" descr="combined_loyalty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0"/>
            <a:ext cx="4754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5-Phase Rollout: Key Risks and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583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Phase 1 (M1-2): Foundation — Zone classification engine, shadow-mode testing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Phase 2 (M3-4): Zone Caps Live — 1.75/2.0/2.5x, driver earnings guarantee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Phase 3 (M5-6): Loyalty Protection — 1.75x cap for Gold/Silver, Path to Silver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Phase 4 (M7-12): Optimization — A/B test fine-tuning, dynamic caps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Phase 5 (M13-18): Scale &amp; Series D — Full governance operational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KEY RISKS: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   R1: Driver earnings reduction — CRITICAL — Earnings guarantee fund (2% of CM)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   R2: Competitor price matching — HIGH — Zone caps invisible until request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   R3: Unknown tier alienation (37.1%) — HIGH — Path to Silver program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   R4: Data artifact in completion rates — MEDIUM — 97% baseline; monitor post-launch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   R5: Regulatory intervention — MEDIUM — Proactive self-regulation narrative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SUCCESS (Phase 5): LTV/CAC ≥1.47x frequent; NRR ≥95%; CM &lt;55% surge-dependent</a:t>
            </a:r>
          </a:p>
        </p:txBody>
      </p:sp>
      <p:pic>
        <p:nvPicPr>
          <p:cNvPr id="4" name="Picture 3" descr="implementation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0"/>
            <a:ext cx="4754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3716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Retention-Driven Unit Economics: 3 Metrics, 18-Month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583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LTV/CAC Ratio (Frequent Segment)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   Current: 1.47x → Target: 1.47-1.84x (18 months)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   Confidence: MEDIUM-LOW for magnitude; MEDIUM-HIGH for structural thesis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Net Revenue Retention (NRR)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   Current: ~94% (revenue-weighted) → Target: ~95%+ (18 months)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   Confidence: MEDIUM-HIGH (NRR already strong; churned are low-value rare riders)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CM Sustainability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   Current: 62.8% surge-dependent → Target: &lt;55% surge-dependent (18 months)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   Confidence: MEDIUM-HIGH (structural shift; less dependent on churn model)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• CAVEAT: Churn causation NOT validated. Recommendation rests on STRUCTURAL thesis (CM diversification, defensibility, regulatory positioning)</a:t>
            </a:r>
          </a:p>
        </p:txBody>
      </p:sp>
      <p:pic>
        <p:nvPicPr>
          <p:cNvPr id="4" name="Picture 3" descr="investor_nar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0"/>
            <a:ext cx="475488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